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33.svg" ContentType="image/svg"/>
  <Override PartName="/ppt/media/image21.svg" ContentType="image/svg"/>
  <Override PartName="/ppt/media/image17.svg" ContentType="image/svg"/>
  <Override PartName="/ppt/media/image6.svg" ContentType="image/svg"/>
  <Override PartName="/ppt/media/image9.svg" ContentType="image/svg"/>
  <Override PartName="/ppt/media/image11.svg" ContentType="image/svg"/>
  <Override PartName="/ppt/media/image19.svg" ContentType="image/svg"/>
  <Override PartName="/ppt/media/image13.svg" ContentType="image/svg"/>
  <Override PartName="/ppt/media/image15.svg" ContentType="image/svg"/>
  <Override PartName="/ppt/media/image23.svg" ContentType="image/svg"/>
  <Override PartName="/ppt/media/image25.svg" ContentType="image/svg"/>
  <Override PartName="/ppt/media/image27.svg" ContentType="image/svg"/>
  <Override PartName="/ppt/media/image29.svg" ContentType="image/svg"/>
  <Override PartName="/ppt/media/image31.svg" ContentType="image/svg"/>
  <Override PartName="/ppt/media/image39.svg" ContentType="image/svg"/>
  <Override PartName="/ppt/media/image35.svg" ContentType="image/svg"/>
  <Override PartName="/ppt/media/image37.svg" ContentType="image/svg"/>
  <Override PartName="/ppt/media/image41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812241-FB10-4E1C-B021-8A364545728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93A676-A823-4EF4-B5F5-3D7F83C552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1C1CF-E9D1-4400-8464-01662A577B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B6BA8-A703-4007-A6EF-A02EDF12C9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F6C6BD-6349-4DF2-B52F-2587FD8FB7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DD12C8-1DC5-410A-96BF-5435E34571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FC65C4-2663-4619-B3F1-55ACB94765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04EECB-30AB-459A-895F-871BE9BAC2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4CE8CF-C2AB-439C-92A1-3A1289D581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04F05-6158-4B1C-8E54-1E00709B0E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1D276B-1321-4D5E-9DF0-61206B0502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100A2-A8AC-4326-9DB7-2A793842E9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28.png"/><Relationship Id="rId10" Type="http://schemas.openxmlformats.org/officeDocument/2006/relationships/image" Target="../media/image29.svg"/><Relationship Id="rId11" Type="http://schemas.openxmlformats.org/officeDocument/2006/relationships/image" Target="../media/image30.png"/><Relationship Id="rId12" Type="http://schemas.openxmlformats.org/officeDocument/2006/relationships/image" Target="../media/image3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sv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36.png"/><Relationship Id="rId6" Type="http://schemas.openxmlformats.org/officeDocument/2006/relationships/image" Target="../media/image37.svg"/><Relationship Id="rId7" Type="http://schemas.openxmlformats.org/officeDocument/2006/relationships/image" Target="../media/image38.png"/><Relationship Id="rId8" Type="http://schemas.openxmlformats.org/officeDocument/2006/relationships/image" Target="../media/image39.svg"/><Relationship Id="rId9" Type="http://schemas.openxmlformats.org/officeDocument/2006/relationships/image" Target="../media/image40.png"/><Relationship Id="rId10" Type="http://schemas.openxmlformats.org/officeDocument/2006/relationships/image" Target="../media/image41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81C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-46800" y="-1548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preencoded.png"/>
          <p:cNvPicPr/>
          <p:nvPr/>
        </p:nvPicPr>
        <p:blipFill>
          <a:blip r:embed="rId2">
            <a:alphaModFix amt="85000"/>
          </a:blip>
          <a:stretch/>
        </p:blipFill>
        <p:spPr>
          <a:xfrm>
            <a:off x="4753800" y="0"/>
            <a:ext cx="439056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preencoded.png"/>
          <p:cNvPicPr/>
          <p:nvPr/>
        </p:nvPicPr>
        <p:blipFill>
          <a:blip r:embed="rId3"/>
          <a:stretch/>
        </p:blipFill>
        <p:spPr>
          <a:xfrm>
            <a:off x="4753800" y="0"/>
            <a:ext cx="43905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1"/>
          <p:cNvSpPr/>
          <p:nvPr/>
        </p:nvSpPr>
        <p:spPr>
          <a:xfrm>
            <a:off x="457560" y="257400"/>
            <a:ext cx="437760" cy="437760"/>
          </a:xfrm>
          <a:prstGeom prst="roundRect">
            <a:avLst>
              <a:gd name="adj" fmla="val 16696"/>
            </a:avLst>
          </a:prstGeom>
          <a:solidFill>
            <a:srgbClr val="FFFFFF">
              <a:alpha val="8000"/>
            </a:srgbClr>
          </a:solidFill>
          <a:ln w="4763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005840" y="286200"/>
            <a:ext cx="2547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900" b="1" u="none" spc="162" strike="noStrike">
              <a:solidFill>
                <a:srgbClr val="B5BBC1"/>
              </a:solidFill>
              <a:effectLst/>
              <a:uFillTx/>
              <a:latin typeface="Sora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107720" y="279720"/>
            <a:ext cx="20134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04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IILM University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7186680" y="4455360"/>
            <a:ext cx="1499760" cy="275760"/>
          </a:xfrm>
          <a:prstGeom prst="roundRect">
            <a:avLst>
              <a:gd name="adj" fmla="val 23172"/>
            </a:avLst>
          </a:prstGeom>
          <a:solidFill>
            <a:srgbClr val="071B31">
              <a:alpha val="55000"/>
            </a:srgbClr>
          </a:solidFill>
          <a:ln w="4763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319520" y="4520880"/>
            <a:ext cx="55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8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AICTE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794720" y="4520880"/>
            <a:ext cx="153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8" strike="noStrike">
                <a:solidFill>
                  <a:srgbClr val="5E6B79"/>
                </a:solidFill>
                <a:effectLst/>
                <a:uFillTx/>
                <a:latin typeface="Sora"/>
                <a:ea typeface="Sora"/>
              </a:rPr>
              <a:t>×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959960" y="4520880"/>
            <a:ext cx="829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68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EduSkills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300600" y="816120"/>
            <a:ext cx="5739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65"/>
              </a:lnSpc>
              <a:tabLst>
                <a:tab pos="0" algn="l"/>
              </a:tabLst>
            </a:pPr>
            <a:r>
              <a:rPr lang="en-US" sz="1040" b="1" u="none" spc="230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INTERNSHIP PRESENTATION · 8-WEEK VIRTUAL</a:t>
            </a:r>
            <a:endParaRPr lang="en-IN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65"/>
              </a:lnSpc>
              <a:tabLst>
                <a:tab pos="0" algn="l"/>
              </a:tabLst>
            </a:pPr>
            <a:r>
              <a:rPr lang="en-US" sz="1040" b="1" u="none" spc="230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LEARNING JOURNEY</a:t>
            </a:r>
            <a:endParaRPr lang="en-IN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457200" y="1182240"/>
            <a:ext cx="26676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4000" b="1" u="none" spc="-241" strike="noStrike">
              <a:solidFill>
                <a:srgbClr val="FFFFFF"/>
              </a:solidFill>
              <a:effectLst/>
              <a:uFillTx/>
              <a:latin typeface="Sora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253800" y="1287000"/>
            <a:ext cx="50587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241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AICTE–EduSkills Virtual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457200" y="1939680"/>
            <a:ext cx="57816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pc="-241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Internship Program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456840" y="3031200"/>
            <a:ext cx="823680" cy="37800"/>
          </a:xfrm>
          <a:prstGeom prst="rect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457200" y="3264840"/>
            <a:ext cx="1211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STUDENT NAME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457200" y="3385800"/>
            <a:ext cx="143100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D3D6DA"/>
                </a:solidFill>
                <a:effectLst/>
                <a:uFillTx/>
                <a:latin typeface="Source Sans 3"/>
                <a:ea typeface="Source Sans 3"/>
              </a:rPr>
              <a:t>Krishna Singh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2788920" y="3264840"/>
            <a:ext cx="1737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ENROLLMENT NUMBER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2788920" y="3385800"/>
            <a:ext cx="190620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3D6DA"/>
                </a:solidFill>
                <a:effectLst/>
                <a:uFillTx/>
                <a:latin typeface="Source Sans 3"/>
              </a:rPr>
              <a:t>25SCS1003001249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457200" y="3693240"/>
            <a:ext cx="1767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PROGRAM &amp; SEMESTER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457200" y="3814200"/>
            <a:ext cx="256464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D3D6DA"/>
                </a:solidFill>
                <a:effectLst/>
                <a:uFillTx/>
                <a:latin typeface="Source Sans 3"/>
                <a:ea typeface="Source Sans 3"/>
              </a:rPr>
              <a:t>Btech· 2nd semester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2788920" y="3693240"/>
            <a:ext cx="16488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ORGANIZATION NAME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2788920" y="3814200"/>
            <a:ext cx="185184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3D6DA"/>
                </a:solidFill>
                <a:effectLst/>
                <a:uFillTx/>
                <a:latin typeface="Source Sans 3"/>
              </a:rPr>
              <a:t>Simens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457200" y="4121640"/>
            <a:ext cx="2072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INTERNSHIP TOPIC / TITLE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457200" y="4242960"/>
            <a:ext cx="206748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D3D6DA"/>
                </a:solidFill>
                <a:effectLst/>
                <a:uFillTx/>
                <a:latin typeface="Source Sans 3"/>
                <a:ea typeface="Source Sans 3"/>
              </a:rPr>
              <a:t>AICTE–EduSkills Virtual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6"/>
          <p:cNvSpPr/>
          <p:nvPr/>
        </p:nvSpPr>
        <p:spPr>
          <a:xfrm>
            <a:off x="457200" y="4442760"/>
            <a:ext cx="94824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D3D6DA"/>
                </a:solidFill>
                <a:effectLst/>
                <a:uFillTx/>
                <a:latin typeface="Source Sans 3"/>
                <a:ea typeface="Source Sans 3"/>
              </a:rPr>
              <a:t>Internship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2788920" y="4121640"/>
            <a:ext cx="179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pc="128" strike="noStrike">
                <a:solidFill>
                  <a:srgbClr val="77828E"/>
                </a:solidFill>
                <a:effectLst/>
                <a:uFillTx/>
                <a:latin typeface="Source Sans 3"/>
                <a:ea typeface="Source Sans 3"/>
              </a:rPr>
              <a:t>INTERNSHIP DURATION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8"/>
          <p:cNvSpPr/>
          <p:nvPr/>
        </p:nvSpPr>
        <p:spPr>
          <a:xfrm>
            <a:off x="2788920" y="4242960"/>
            <a:ext cx="234180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3D6DA"/>
                </a:solidFill>
                <a:effectLst/>
                <a:uFillTx/>
                <a:latin typeface="Source Sans 3"/>
                <a:ea typeface="Source Sans 3"/>
              </a:rPr>
              <a:t>8 Weeks 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34"/>
          <p:cNvPicPr/>
          <p:nvPr/>
        </p:nvPicPr>
        <p:blipFill>
          <a:blip r:embed="rId4"/>
          <a:stretch/>
        </p:blipFill>
        <p:spPr>
          <a:xfrm>
            <a:off x="456840" y="202320"/>
            <a:ext cx="479880" cy="49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4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5950800" y="-619920"/>
            <a:ext cx="3838320" cy="3838320"/>
          </a:xfrm>
          <a:prstGeom prst="ellipse">
            <a:avLst/>
          </a:prstGeom>
          <a:noFill/>
          <a:ln w="109538">
            <a:solidFill>
              <a:srgbClr val="3180F5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8322120" y="721080"/>
            <a:ext cx="180720" cy="180720"/>
          </a:xfrm>
          <a:prstGeom prst="ellipse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58440" y="215280"/>
            <a:ext cx="13791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01 / CONTEXT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8494200" y="215280"/>
            <a:ext cx="307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02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457200" y="781200"/>
            <a:ext cx="31374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THE LEARNING ECOSYSTEM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57200" y="1011960"/>
            <a:ext cx="61164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About AICTE &amp; EduSkills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456840" y="1748160"/>
            <a:ext cx="4024080" cy="1595160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 w="0">
            <a:noFill/>
          </a:ln>
          <a:effectLst>
            <a:outerShdw algn="bl" blurRad="365760" dir="5400000" dist="137160" rotWithShape="0">
              <a:srgbClr val="102D48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667800" y="1959120"/>
            <a:ext cx="328320" cy="328320"/>
          </a:xfrm>
          <a:prstGeom prst="roundRect">
            <a:avLst>
              <a:gd name="adj" fmla="val 22261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778320" y="2035080"/>
            <a:ext cx="1962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A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1087920" y="1996560"/>
            <a:ext cx="8722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AICTE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667440" y="2434680"/>
            <a:ext cx="410652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D6C88"/>
                </a:solidFill>
                <a:effectLst/>
                <a:uFillTx/>
                <a:latin typeface="Source Sans 3"/>
                <a:ea typeface="Source Sans 3"/>
              </a:rPr>
              <a:t>The All India Council for Technical Education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D6C88"/>
                </a:solidFill>
                <a:effectLst/>
                <a:uFillTx/>
                <a:latin typeface="Source Sans 3"/>
                <a:ea typeface="Source Sans 3"/>
              </a:rPr>
              <a:t>supports quality, standards, and growth across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D6C88"/>
                </a:solidFill>
                <a:effectLst/>
                <a:uFillTx/>
                <a:latin typeface="Source Sans 3"/>
                <a:ea typeface="Source Sans 3"/>
              </a:rPr>
              <a:t>technical education in India.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667440" y="3100320"/>
            <a:ext cx="456840" cy="33120"/>
          </a:xfrm>
          <a:prstGeom prst="rect">
            <a:avLst/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4663080" y="1748160"/>
            <a:ext cx="4024080" cy="1595160"/>
          </a:xfrm>
          <a:prstGeom prst="roundRect">
            <a:avLst>
              <a:gd name="adj" fmla="val 6304"/>
            </a:avLst>
          </a:prstGeom>
          <a:solidFill>
            <a:srgbClr val="E8F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4874040" y="1959120"/>
            <a:ext cx="328320" cy="328320"/>
          </a:xfrm>
          <a:prstGeom prst="roundRect">
            <a:avLst>
              <a:gd name="adj" fmla="val 22261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4997520" y="2035080"/>
            <a:ext cx="162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E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5294160" y="1996560"/>
            <a:ext cx="12999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EduSkills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4873680" y="2434680"/>
            <a:ext cx="415008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76988"/>
                </a:solidFill>
                <a:effectLst/>
                <a:uFillTx/>
                <a:latin typeface="Source Sans 3"/>
                <a:ea typeface="Source Sans 3"/>
              </a:rPr>
              <a:t>EduSkills connects learners with structured,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76988"/>
                </a:solidFill>
                <a:effectLst/>
                <a:uFillTx/>
                <a:latin typeface="Source Sans 3"/>
                <a:ea typeface="Source Sans 3"/>
              </a:rPr>
              <a:t>industry-oriented learning experiences through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3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476988"/>
                </a:solidFill>
                <a:effectLst/>
                <a:uFillTx/>
                <a:latin typeface="Source Sans 3"/>
                <a:ea typeface="Source Sans 3"/>
              </a:rPr>
              <a:t>virtual internship programs.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1"/>
          <p:cNvSpPr/>
          <p:nvPr/>
        </p:nvSpPr>
        <p:spPr>
          <a:xfrm>
            <a:off x="4873680" y="3100320"/>
            <a:ext cx="456840" cy="33120"/>
          </a:xfrm>
          <a:prstGeom prst="rect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2"/>
          <p:cNvSpPr/>
          <p:nvPr/>
        </p:nvSpPr>
        <p:spPr>
          <a:xfrm>
            <a:off x="457200" y="3548520"/>
            <a:ext cx="82292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457200" y="3827160"/>
            <a:ext cx="981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62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PURPOSE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1351080" y="3677040"/>
            <a:ext cx="891864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64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3E617F"/>
                </a:solidFill>
                <a:effectLst/>
                <a:uFillTx/>
                <a:latin typeface="Source Sans 3"/>
                <a:ea typeface="Source Sans 3"/>
              </a:rPr>
              <a:t>Connect classroom foundations with guided practice, mentor touchpoints, and industry-oriented</a:t>
            </a:r>
            <a:endParaRPr lang="en-IN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64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3E617F"/>
                </a:solidFill>
                <a:effectLst/>
                <a:uFillTx/>
                <a:latin typeface="Source Sans 3"/>
                <a:ea typeface="Source Sans 3"/>
              </a:rPr>
              <a:t>learning.</a:t>
            </a:r>
            <a:endParaRPr lang="en-IN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3548520"/>
            <a:ext cx="8229240" cy="56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>
            <a:alphaModFix amt="2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1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658440" y="215280"/>
            <a:ext cx="1475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8C4CF"/>
                </a:solidFill>
                <a:effectLst/>
                <a:uFillTx/>
                <a:latin typeface="Sora"/>
                <a:ea typeface="Sora"/>
              </a:rPr>
              <a:t>02 / PROGRAM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494200" y="215280"/>
            <a:ext cx="307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8C4CF"/>
                </a:solidFill>
                <a:effectLst/>
                <a:uFillTx/>
                <a:latin typeface="Sora"/>
                <a:ea typeface="Sora"/>
              </a:rPr>
              <a:t>03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99DB0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99DB0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457200" y="781200"/>
            <a:ext cx="3419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THE FRAME FOR EIGHT WEEKS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57200" y="1011960"/>
            <a:ext cx="5190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Internship Overview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57200" y="1799280"/>
            <a:ext cx="49147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57200" y="1907640"/>
            <a:ext cx="883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pc="150" strike="noStrike">
                <a:solidFill>
                  <a:srgbClr val="7D93A8"/>
                </a:solidFill>
                <a:effectLst/>
                <a:uFillTx/>
                <a:latin typeface="Source Sans 3"/>
                <a:ea typeface="Source Sans 3"/>
              </a:rPr>
              <a:t>DURATION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457200" y="2094120"/>
            <a:ext cx="15591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8 weeks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2116440" y="1949040"/>
            <a:ext cx="514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pc="150" strike="noStrike">
                <a:solidFill>
                  <a:srgbClr val="7D93A8"/>
                </a:solidFill>
                <a:effectLst/>
                <a:uFillTx/>
                <a:latin typeface="Source Sans 3"/>
                <a:ea typeface="Source Sans 3"/>
              </a:rPr>
              <a:t>MODE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2116440" y="2130480"/>
            <a:ext cx="10494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Virtual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3383280" y="1969560"/>
            <a:ext cx="69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pc="150" strike="noStrike">
                <a:solidFill>
                  <a:srgbClr val="7D93A8"/>
                </a:solidFill>
                <a:effectLst/>
                <a:uFillTx/>
                <a:latin typeface="Source Sans 3"/>
                <a:ea typeface="Source Sans 3"/>
              </a:rPr>
              <a:t>DOMAIN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3383280" y="2146320"/>
            <a:ext cx="26420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ora"/>
              </a:rPr>
              <a:t>Data Science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456120" y="2840760"/>
            <a:ext cx="1161720" cy="47160"/>
          </a:xfrm>
          <a:prstGeom prst="rect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57200" y="2978640"/>
            <a:ext cx="6487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07"/>
              </a:spcBef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01–02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457200" y="3240000"/>
            <a:ext cx="91836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080" b="0" u="none" strike="noStrike">
                <a:solidFill>
                  <a:srgbClr val="ACBAC7"/>
                </a:solidFill>
                <a:effectLst/>
                <a:uFillTx/>
                <a:latin typeface="Source Sans 3"/>
                <a:ea typeface="Source Sans 3"/>
              </a:rPr>
              <a:t>Foundation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1707840" y="2840760"/>
            <a:ext cx="1161720" cy="47160"/>
          </a:xfrm>
          <a:prstGeom prst="rect">
            <a:avLst/>
          </a:prstGeom>
          <a:solidFill>
            <a:srgbClr val="7FA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1708920" y="2978640"/>
            <a:ext cx="6951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07"/>
              </a:spcBef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03–04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1708920" y="3240000"/>
            <a:ext cx="14050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080" b="0" u="none" strike="noStrike">
                <a:solidFill>
                  <a:srgbClr val="ACBAC7"/>
                </a:solidFill>
                <a:effectLst/>
                <a:uFillTx/>
                <a:latin typeface="Source Sans 3"/>
                <a:ea typeface="Source Sans 3"/>
              </a:rPr>
              <a:t>Skill development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2959560" y="2840760"/>
            <a:ext cx="1161720" cy="47160"/>
          </a:xfrm>
          <a:prstGeom prst="rect">
            <a:avLst/>
          </a:prstGeom>
          <a:solidFill>
            <a:srgbClr val="7FA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2960280" y="2978640"/>
            <a:ext cx="70020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07"/>
              </a:spcBef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05–06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2960280" y="3240000"/>
            <a:ext cx="9061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080" b="0" u="none" strike="noStrike">
                <a:solidFill>
                  <a:srgbClr val="ACBAC7"/>
                </a:solidFill>
                <a:effectLst/>
                <a:uFillTx/>
                <a:latin typeface="Source Sans 3"/>
                <a:ea typeface="Source Sans 3"/>
              </a:rPr>
              <a:t>Application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>
            <a:off x="4210920" y="2840760"/>
            <a:ext cx="1161720" cy="47160"/>
          </a:xfrm>
          <a:prstGeom prst="rect">
            <a:avLst/>
          </a:prstGeom>
          <a:solidFill>
            <a:srgbClr val="7FA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4212000" y="2978640"/>
            <a:ext cx="68940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07"/>
              </a:spcBef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07–08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4212000" y="3240000"/>
            <a:ext cx="9082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21"/>
              </a:lnSpc>
            </a:pPr>
            <a:r>
              <a:rPr lang="en-US" sz="1050" b="0" u="none" strike="noStrike">
                <a:solidFill>
                  <a:srgbClr val="ACBAC7"/>
                </a:solidFill>
                <a:effectLst/>
                <a:uFillTx/>
                <a:latin typeface="Source Sans 3"/>
              </a:rPr>
              <a:t>Practice and completion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/>
          <p:cNvSpPr/>
          <p:nvPr/>
        </p:nvSpPr>
        <p:spPr>
          <a:xfrm>
            <a:off x="5738400" y="1800360"/>
            <a:ext cx="2947680" cy="21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8"/>
          <p:cNvSpPr/>
          <p:nvPr/>
        </p:nvSpPr>
        <p:spPr>
          <a:xfrm>
            <a:off x="5971320" y="1814400"/>
            <a:ext cx="2675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pc="181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LEARNING OBJECTIVES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5971320" y="2080800"/>
            <a:ext cx="26784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72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01 Build domain foundations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5971320" y="2378880"/>
            <a:ext cx="30139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72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02 Practise with guided activities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5971320" y="2677320"/>
            <a:ext cx="32169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72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03 Apply concepts to a final activity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2"/>
          <p:cNvSpPr/>
          <p:nvPr/>
        </p:nvSpPr>
        <p:spPr>
          <a:xfrm>
            <a:off x="5971320" y="2975760"/>
            <a:ext cx="29307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04 Reflect on industry readiness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5971320" y="3513600"/>
            <a:ext cx="28051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7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4A7B7"/>
                </a:solidFill>
                <a:effectLst/>
                <a:uFillTx/>
                <a:latin typeface="Source Sans 3"/>
                <a:ea typeface="Source Sans 3"/>
              </a:rPr>
              <a:t>Major activities completed: [Verified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7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4A7B7"/>
                </a:solidFill>
                <a:effectLst/>
                <a:uFillTx/>
                <a:latin typeface="Source Sans 3"/>
                <a:ea typeface="Source Sans 3"/>
              </a:rPr>
              <a:t>Activities]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799280"/>
            <a:ext cx="49147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738400" y="1800360"/>
            <a:ext cx="2947680" cy="213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971680" y="3400920"/>
            <a:ext cx="2714400" cy="5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4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658440" y="215280"/>
            <a:ext cx="1414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03 / JOURNEY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8489880" y="215280"/>
            <a:ext cx="312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04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57200" y="975600"/>
            <a:ext cx="1562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WEEKS 01–02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57200" y="1206360"/>
            <a:ext cx="2957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Foundation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773120" y="652320"/>
            <a:ext cx="124452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-720" strike="noStrike">
                <a:solidFill>
                  <a:srgbClr val="DDE8FB"/>
                </a:solidFill>
                <a:effectLst/>
                <a:uFillTx/>
                <a:latin typeface="Sora"/>
                <a:ea typeface="Sora"/>
              </a:rPr>
              <a:t>01</a:t>
            </a:r>
            <a:endParaRPr lang="en-IN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456840" y="1890720"/>
            <a:ext cx="4024080" cy="1961640"/>
          </a:xfrm>
          <a:prstGeom prst="roundRect">
            <a:avLst>
              <a:gd name="adj" fmla="val 4660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677520" y="2112120"/>
            <a:ext cx="290160" cy="290160"/>
          </a:xfrm>
          <a:prstGeom prst="ellipse">
            <a:avLst/>
          </a:prstGeom>
          <a:noFill/>
          <a:ln w="4763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746640" y="2175480"/>
            <a:ext cx="254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01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1060560" y="2174400"/>
            <a:ext cx="786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WEEK 1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676800" y="2558160"/>
            <a:ext cx="3571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ra"/>
              </a:rPr>
              <a:t>Introduction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60960" y="2875680"/>
            <a:ext cx="44233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800"/>
              </a:lnSpc>
            </a:pPr>
            <a:r>
              <a:rPr lang="en-US" sz="1400" b="0" u="none" strike="noStrike">
                <a:solidFill>
                  <a:srgbClr val="CBD4DC"/>
                </a:solidFill>
                <a:effectLst/>
                <a:uFillTx/>
                <a:latin typeface="Source Sans 3"/>
              </a:rPr>
              <a:t>Introduction about data sciece and business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lang="en-US" sz="1400" b="0" u="none" strike="noStrike">
                <a:solidFill>
                  <a:srgbClr val="CBD4DC"/>
                </a:solidFill>
                <a:effectLst/>
                <a:uFillTx/>
                <a:latin typeface="Source Sans 3"/>
              </a:rPr>
              <a:t>Related stuff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4663080" y="1890720"/>
            <a:ext cx="4024080" cy="196164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0">
            <a:noFill/>
          </a:ln>
          <a:effectLst>
            <a:outerShdw algn="bl" blurRad="365760" dir="5400000" dist="137160" rotWithShape="0">
              <a:srgbClr val="102D48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4883760" y="2112120"/>
            <a:ext cx="290160" cy="290160"/>
          </a:xfrm>
          <a:prstGeom prst="ellipse">
            <a:avLst/>
          </a:prstGeom>
          <a:noFill/>
          <a:ln w="4763">
            <a:solidFill>
              <a:srgbClr val="2D7DF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4939920" y="2175480"/>
            <a:ext cx="289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02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5266800" y="2174400"/>
            <a:ext cx="8193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 2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882680" y="2553120"/>
            <a:ext cx="4212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216"/>
              </a:spcBef>
            </a:pPr>
            <a:r>
              <a:rPr lang="en-US" sz="1600" b="1" u="none" strike="noStrike">
                <a:solidFill>
                  <a:srgbClr val="123B60"/>
                </a:solidFill>
                <a:effectLst/>
                <a:uFillTx/>
                <a:latin typeface="Segoe UI"/>
                <a:ea typeface="Sora"/>
              </a:rPr>
              <a:t>Data</a:t>
            </a:r>
            <a:r>
              <a:rPr lang="en-US" sz="16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 Engineering Professional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4882680" y="2908080"/>
            <a:ext cx="4626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54738D"/>
                </a:solidFill>
                <a:effectLst/>
                <a:uFillTx/>
                <a:latin typeface="Source Sans 3"/>
                <a:ea typeface="Source Sans 3"/>
              </a:rPr>
              <a:t>Learn to access, load, transform, and calculate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54738D"/>
                </a:solidFill>
                <a:effectLst/>
                <a:uFillTx/>
                <a:latin typeface="Source Sans 3"/>
                <a:ea typeface="Source Sans 3"/>
              </a:rPr>
              <a:t>data.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1"/>
          <p:cNvSpPr/>
          <p:nvPr/>
        </p:nvSpPr>
        <p:spPr>
          <a:xfrm>
            <a:off x="457200" y="4057200"/>
            <a:ext cx="82292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457200" y="4224960"/>
            <a:ext cx="221760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FOUNDATION FOCUS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2302200" y="4171320"/>
            <a:ext cx="6837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4A6A87"/>
                </a:solidFill>
                <a:effectLst/>
                <a:uFillTx/>
                <a:latin typeface="Source Sans 3"/>
                <a:ea typeface="Source Sans 3"/>
              </a:rPr>
              <a:t>Business problem framing · data access · transformation · calculation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4057200"/>
            <a:ext cx="8229240" cy="35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F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>
            <a:off x="-915480" y="1679400"/>
            <a:ext cx="4390560" cy="4390560"/>
          </a:xfrm>
          <a:prstGeom prst="ellipse">
            <a:avLst/>
          </a:prstGeom>
          <a:noFill/>
          <a:ln w="109538">
            <a:solidFill>
              <a:srgbClr val="3180F5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658440" y="215280"/>
            <a:ext cx="1414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883A0"/>
                </a:solidFill>
                <a:effectLst/>
                <a:uFillTx/>
                <a:latin typeface="Sora"/>
                <a:ea typeface="Sora"/>
              </a:rPr>
              <a:t>03 / JOURNEY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8493120" y="215280"/>
            <a:ext cx="308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883A0"/>
                </a:solidFill>
                <a:effectLst/>
                <a:uFillTx/>
                <a:latin typeface="Sora"/>
                <a:ea typeface="Sora"/>
              </a:rPr>
              <a:t>05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8A0B7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8A0B7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457200" y="975600"/>
            <a:ext cx="16020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WEEKS 03–04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457200" y="1206360"/>
            <a:ext cx="4672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Skill Development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7584840" y="652320"/>
            <a:ext cx="148932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-720" strike="noStrike">
                <a:solidFill>
                  <a:srgbClr val="D6E3F3"/>
                </a:solidFill>
                <a:effectLst/>
                <a:uFillTx/>
                <a:latin typeface="Sora"/>
                <a:ea typeface="Sora"/>
              </a:rPr>
              <a:t>02</a:t>
            </a:r>
            <a:endParaRPr lang="en-IN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456840" y="1891800"/>
            <a:ext cx="4024080" cy="169524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0">
            <a:noFill/>
          </a:ln>
          <a:effectLst>
            <a:outerShdw algn="bl" blurRad="274320" dir="5400000" dist="91440" rotWithShape="0">
              <a:srgbClr val="102D4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677520" y="2112120"/>
            <a:ext cx="290160" cy="290160"/>
          </a:xfrm>
          <a:prstGeom prst="ellipse">
            <a:avLst/>
          </a:prstGeom>
          <a:noFill/>
          <a:ln w="4763">
            <a:solidFill>
              <a:srgbClr val="2D7DF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733680" y="2175480"/>
            <a:ext cx="289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03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60560" y="2174400"/>
            <a:ext cx="8193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 3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676800" y="2550960"/>
            <a:ext cx="41972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972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Machine Learning Professional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676800" y="2896560"/>
            <a:ext cx="4281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5A758F"/>
                </a:solidFill>
                <a:effectLst/>
                <a:uFillTx/>
                <a:latin typeface="Source Sans 3"/>
                <a:ea typeface="Source Sans 3"/>
              </a:rPr>
              <a:t>Build foundational machine learning skills.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4663080" y="1891800"/>
            <a:ext cx="4024080" cy="1695240"/>
          </a:xfrm>
          <a:prstGeom prst="roundRect">
            <a:avLst>
              <a:gd name="adj" fmla="val 5393"/>
            </a:avLst>
          </a:prstGeom>
          <a:solidFill>
            <a:srgbClr val="123B60"/>
          </a:solidFill>
          <a:ln w="0">
            <a:noFill/>
          </a:ln>
          <a:effectLst>
            <a:outerShdw algn="bl" blurRad="274320" dir="5400000" dist="91440" rotWithShape="0">
              <a:srgbClr val="102D48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4883760" y="2112120"/>
            <a:ext cx="290160" cy="290160"/>
          </a:xfrm>
          <a:prstGeom prst="ellipse">
            <a:avLst/>
          </a:prstGeom>
          <a:noFill/>
          <a:ln w="4763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4937400" y="2175480"/>
            <a:ext cx="295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04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5266800" y="2174400"/>
            <a:ext cx="8258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WEEK 4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4882680" y="2550960"/>
            <a:ext cx="33364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972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Data Preparation Master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4882680" y="2901240"/>
            <a:ext cx="35780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C4CED7"/>
                </a:solidFill>
                <a:effectLst/>
                <a:uFillTx/>
                <a:latin typeface="Source Sans 3"/>
                <a:ea typeface="Source Sans 3"/>
              </a:rPr>
              <a:t>Master advanced data handling and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C4CED7"/>
                </a:solidFill>
                <a:effectLst/>
                <a:uFillTx/>
                <a:latin typeface="Source Sans 3"/>
                <a:ea typeface="Source Sans 3"/>
              </a:rPr>
              <a:t>automation.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457200" y="3792600"/>
            <a:ext cx="822924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457200" y="3935520"/>
            <a:ext cx="176760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SKILL EMPHASIS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457200" y="4155840"/>
            <a:ext cx="31575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476988"/>
                </a:solidFill>
                <a:effectLst/>
                <a:uFillTx/>
                <a:latin typeface="Source Sans 3"/>
                <a:ea typeface="Source Sans 3"/>
              </a:rPr>
              <a:t>Foundational machine learning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4663440" y="3935520"/>
            <a:ext cx="222444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PRACTICE EMPHASIS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4663440" y="4155840"/>
            <a:ext cx="40885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476988"/>
                </a:solidFill>
                <a:effectLst/>
                <a:uFillTx/>
                <a:latin typeface="Source Sans 3"/>
                <a:ea typeface="Source Sans 3"/>
              </a:rPr>
              <a:t>Advanced data handling and automation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3792600"/>
            <a:ext cx="8229240" cy="63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4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658440" y="215280"/>
            <a:ext cx="1414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03 / JOURNEY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8488080" y="215280"/>
            <a:ext cx="315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06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57200" y="781200"/>
            <a:ext cx="16063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WEEKS 05–06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457200" y="1011960"/>
            <a:ext cx="5344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Practical Application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456840" y="1748160"/>
            <a:ext cx="4024080" cy="1356840"/>
          </a:xfrm>
          <a:prstGeom prst="roundRect">
            <a:avLst>
              <a:gd name="adj" fmla="val 6737"/>
            </a:avLst>
          </a:prstGeom>
          <a:solidFill>
            <a:srgbClr val="FFFFFF"/>
          </a:solidFill>
          <a:ln w="4763">
            <a:solidFill>
              <a:srgbClr val="103A63">
                <a:alpha val="12000"/>
              </a:srgbClr>
            </a:solidFill>
            <a:round/>
          </a:ln>
          <a:effectLst>
            <a:outerShdw algn="bl" blurRad="274320" dir="5400000" dist="91440" rotWithShape="0">
              <a:srgbClr val="102D48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681480" y="1982520"/>
            <a:ext cx="8211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WEEK 5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681480" y="2279880"/>
            <a:ext cx="3524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62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Machine Learning Master</a:t>
            </a:r>
            <a:endParaRPr lang="en-IN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681480" y="2637360"/>
            <a:ext cx="4603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54738D"/>
                </a:solidFill>
                <a:effectLst/>
                <a:uFillTx/>
                <a:latin typeface="Source Sans 3"/>
                <a:ea typeface="Source Sans 3"/>
              </a:rPr>
              <a:t>Learn advanced machine learning techniques.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2"/>
          <p:cNvSpPr/>
          <p:nvPr/>
        </p:nvSpPr>
        <p:spPr>
          <a:xfrm>
            <a:off x="4663080" y="1748160"/>
            <a:ext cx="4024080" cy="1356840"/>
          </a:xfrm>
          <a:prstGeom prst="roundRect">
            <a:avLst>
              <a:gd name="adj" fmla="val 6737"/>
            </a:avLst>
          </a:prstGeom>
          <a:solidFill>
            <a:srgbClr val="123B60"/>
          </a:solidFill>
          <a:ln w="0">
            <a:noFill/>
          </a:ln>
          <a:effectLst>
            <a:outerShdw algn="bl" blurRad="274320" dir="5400000" dist="91440" rotWithShape="0">
              <a:srgbClr val="102D48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4882680" y="1977840"/>
            <a:ext cx="8280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WEEK 6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4882680" y="2275200"/>
            <a:ext cx="4590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62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Applications &amp; Use Cases Master</a:t>
            </a:r>
            <a:endParaRPr lang="en-IN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4882680" y="2632680"/>
            <a:ext cx="32104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CBD4DC"/>
                </a:solidFill>
                <a:effectLst/>
                <a:uFillTx/>
                <a:latin typeface="Source Sans 3"/>
                <a:ea typeface="Source Sans 3"/>
              </a:rPr>
              <a:t>Deploy and monitor ML models.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456480" y="3360960"/>
            <a:ext cx="385560" cy="385560"/>
          </a:xfrm>
          <a:prstGeom prst="ellipse">
            <a:avLst/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552600" y="3465000"/>
            <a:ext cx="3078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05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931680" y="3551400"/>
            <a:ext cx="732960" cy="4320"/>
          </a:xfrm>
          <a:prstGeom prst="rect">
            <a:avLst/>
          </a:prstGeom>
          <a:solidFill>
            <a:srgbClr val="2D7DF5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1754640" y="3360960"/>
            <a:ext cx="385560" cy="385560"/>
          </a:xfrm>
          <a:prstGeom prst="ellipse">
            <a:avLst/>
          </a:prstGeom>
          <a:noFill/>
          <a:ln w="4763">
            <a:solidFill>
              <a:srgbClr val="2D7DF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1847880" y="3465000"/>
            <a:ext cx="315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06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2322000" y="3421440"/>
            <a:ext cx="5080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5A7792"/>
                </a:solidFill>
                <a:effectLst/>
                <a:uFillTx/>
                <a:latin typeface="Source Sans 3"/>
                <a:ea typeface="Source Sans 3"/>
              </a:rPr>
              <a:t>Advanced techniques → deployment → monitoring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81C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5303520" y="-925920"/>
            <a:ext cx="4571640" cy="4571640"/>
          </a:xfrm>
          <a:prstGeom prst="ellipse">
            <a:avLst/>
          </a:prstGeom>
          <a:noFill/>
          <a:ln w="114300">
            <a:solidFill>
              <a:srgbClr val="2D7DF5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5486400" y="3171960"/>
            <a:ext cx="2742840" cy="2742840"/>
          </a:xfrm>
          <a:prstGeom prst="ellipse">
            <a:avLst/>
          </a:prstGeom>
          <a:noFill/>
          <a:ln w="4763">
            <a:solidFill>
              <a:srgbClr val="E1A55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658440" y="215280"/>
            <a:ext cx="1414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5BBC1"/>
                </a:solidFill>
                <a:effectLst/>
                <a:uFillTx/>
                <a:latin typeface="Sora"/>
                <a:ea typeface="Sora"/>
              </a:rPr>
              <a:t>03 / JOURNEY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8497080" y="215280"/>
            <a:ext cx="303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5BBC1"/>
                </a:solidFill>
                <a:effectLst/>
                <a:uFillTx/>
                <a:latin typeface="Sora"/>
                <a:ea typeface="Sora"/>
              </a:rPr>
              <a:t>07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457200" y="781200"/>
            <a:ext cx="1596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WEEKS 07–08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457200" y="1011960"/>
            <a:ext cx="5478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Project &amp; Completion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456840" y="1748160"/>
            <a:ext cx="4024080" cy="1342800"/>
          </a:xfrm>
          <a:prstGeom prst="roundRect">
            <a:avLst>
              <a:gd name="adj" fmla="val 6809"/>
            </a:avLst>
          </a:prstGeom>
          <a:solidFill>
            <a:srgbClr val="FFFFFF">
              <a:alpha val="6000"/>
            </a:srgbClr>
          </a:solidFill>
          <a:ln w="4763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556200" y="1974600"/>
            <a:ext cx="8150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WEEK 7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564120" y="2421000"/>
            <a:ext cx="4271400" cy="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ts val="2024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ora"/>
              </a:rPr>
              <a:t>Applications &amp; Use Cases Professional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11"/>
              </a:spcBef>
            </a:pP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564120" y="2741040"/>
            <a:ext cx="42490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ts val="1800"/>
              </a:lnSpc>
            </a:pPr>
            <a:r>
              <a:rPr lang="en-US" sz="1400" b="0" u="none" strike="noStrike">
                <a:solidFill>
                  <a:srgbClr val="CBD4DC"/>
                </a:solidFill>
                <a:effectLst/>
                <a:uFillTx/>
                <a:latin typeface="Segoe UI"/>
              </a:rPr>
              <a:t>Learn to identify business problems suitable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</a:pPr>
            <a:r>
              <a:rPr lang="en-US" sz="1400" b="0" u="none" strike="noStrike">
                <a:solidFill>
                  <a:srgbClr val="CBD4DC"/>
                </a:solidFill>
                <a:effectLst/>
                <a:uFillTx/>
                <a:latin typeface="Segoe UI"/>
              </a:rPr>
              <a:t>for AI and machine learning.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4663080" y="1748160"/>
            <a:ext cx="4024080" cy="1342800"/>
          </a:xfrm>
          <a:prstGeom prst="roundRect">
            <a:avLst>
              <a:gd name="adj" fmla="val 6809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4882680" y="1977840"/>
            <a:ext cx="8247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147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WEEK 8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4882680" y="2275200"/>
            <a:ext cx="4240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Platform Administration Master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4882680" y="2619000"/>
            <a:ext cx="3711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1440" b="0" u="none" strike="noStrike">
                <a:solidFill>
                  <a:srgbClr val="CBD4DC"/>
                </a:solidFill>
                <a:effectLst/>
                <a:uFillTx/>
                <a:latin typeface="Source Sans 3"/>
                <a:ea typeface="Source Sans 3"/>
              </a:rPr>
              <a:t>Enterprise-level platform operations.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457200" y="3346920"/>
            <a:ext cx="82292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457200" y="3490560"/>
            <a:ext cx="22042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COMPLETION FOCUS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457200" y="3686760"/>
            <a:ext cx="7503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510" b="0" u="none" strike="noStrike">
                <a:solidFill>
                  <a:srgbClr val="CED2D6"/>
                </a:solidFill>
                <a:effectLst/>
                <a:uFillTx/>
                <a:latin typeface="Source Sans 3"/>
                <a:ea typeface="Source Sans 3"/>
              </a:rPr>
              <a:t>RapidMiner AI Hub administration · enterprise-level platform operations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3346920"/>
            <a:ext cx="8229240" cy="59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4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658440" y="215280"/>
            <a:ext cx="1467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04 / PRACTICE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8490600" y="215280"/>
            <a:ext cx="312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C869F"/>
                </a:solidFill>
                <a:effectLst/>
                <a:uFillTx/>
                <a:latin typeface="Sora"/>
                <a:ea typeface="Sora"/>
              </a:rPr>
              <a:t>08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EA3B5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457200" y="781200"/>
            <a:ext cx="34254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THE WORKING ENVIRONMENT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57200" y="1011960"/>
            <a:ext cx="675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Technologies &amp; Tools Used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457200" y="1599120"/>
            <a:ext cx="72320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30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Replace each placeholder with only the tools actually used during the internship.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456120" y="2046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457920" y="2155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536400" y="2228400"/>
            <a:ext cx="254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01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896040" y="2169000"/>
            <a:ext cx="3234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Programming / development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896040" y="2447280"/>
            <a:ext cx="1623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Python, SQL, R, C/C++ 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4753800" y="2046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4755600" y="2155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4820760" y="2228400"/>
            <a:ext cx="289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02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5193720" y="2169000"/>
            <a:ext cx="243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Cloud / infrastructure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5193720" y="2447280"/>
            <a:ext cx="1920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Docker, AWS 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9"/>
          <p:cNvSpPr/>
          <p:nvPr/>
        </p:nvSpPr>
        <p:spPr>
          <a:xfrm>
            <a:off x="456120" y="2793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457920" y="2902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523440" y="2975400"/>
            <a:ext cx="289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03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2"/>
          <p:cNvSpPr/>
          <p:nvPr/>
        </p:nvSpPr>
        <p:spPr>
          <a:xfrm>
            <a:off x="896040" y="2916000"/>
            <a:ext cx="1413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AI / ML tools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896040" y="3194280"/>
            <a:ext cx="1611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Keras,PyTorch, OpenCV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4753800" y="2793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>
            <a:off x="4755600" y="2902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4818240" y="2975400"/>
            <a:ext cx="295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04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5193720" y="2916000"/>
            <a:ext cx="2553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Learning / lab platform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5193720" y="3194280"/>
            <a:ext cx="228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AWS Academy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456120" y="3540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0"/>
          <p:cNvSpPr/>
          <p:nvPr/>
        </p:nvSpPr>
        <p:spPr>
          <a:xfrm>
            <a:off x="457920" y="3649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1"/>
          <p:cNvSpPr/>
          <p:nvPr/>
        </p:nvSpPr>
        <p:spPr>
          <a:xfrm>
            <a:off x="522360" y="3722040"/>
            <a:ext cx="290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05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896040" y="3662640"/>
            <a:ext cx="3020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Development environment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896040" y="3941280"/>
            <a:ext cx="2176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Jupyter Notebook, Google Colab 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4"/>
          <p:cNvSpPr/>
          <p:nvPr/>
        </p:nvSpPr>
        <p:spPr>
          <a:xfrm>
            <a:off x="4753800" y="3540960"/>
            <a:ext cx="3933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5"/>
          <p:cNvSpPr/>
          <p:nvPr/>
        </p:nvSpPr>
        <p:spPr>
          <a:xfrm>
            <a:off x="4755600" y="3649320"/>
            <a:ext cx="309240" cy="309240"/>
          </a:xfrm>
          <a:prstGeom prst="roundRect">
            <a:avLst>
              <a:gd name="adj" fmla="val 23631"/>
            </a:avLst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6"/>
          <p:cNvSpPr/>
          <p:nvPr/>
        </p:nvSpPr>
        <p:spPr>
          <a:xfrm>
            <a:off x="4817520" y="3722040"/>
            <a:ext cx="298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06</a:t>
            </a:r>
            <a:endParaRPr lang="en-IN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7"/>
          <p:cNvSpPr/>
          <p:nvPr/>
        </p:nvSpPr>
        <p:spPr>
          <a:xfrm>
            <a:off x="5193720" y="3662640"/>
            <a:ext cx="2208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Other verified tools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8"/>
          <p:cNvSpPr/>
          <p:nvPr/>
        </p:nvSpPr>
        <p:spPr>
          <a:xfrm>
            <a:off x="5193720" y="3941280"/>
            <a:ext cx="2097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20" b="0" u="none" strike="noStrike">
                <a:solidFill>
                  <a:srgbClr val="617C96"/>
                </a:solidFill>
                <a:effectLst/>
                <a:uFillTx/>
                <a:latin typeface="Source Sans 3"/>
                <a:ea typeface="Source Sans 3"/>
              </a:rPr>
              <a:t>GitHub 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42000" y="2085120"/>
            <a:ext cx="39333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53800" y="2046960"/>
            <a:ext cx="39333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6120" y="2793960"/>
            <a:ext cx="39333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753800" y="2793960"/>
            <a:ext cx="39333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56120" y="3540960"/>
            <a:ext cx="39333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753800" y="3540960"/>
            <a:ext cx="3933360" cy="62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108000"/>
            <a:ext cx="9143640" cy="5143320"/>
          </a:xfrm>
          <a:prstGeom prst="rect">
            <a:avLst/>
          </a:prstGeom>
          <a:solidFill>
            <a:srgbClr val="E8F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658440" y="215280"/>
            <a:ext cx="13572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883A0"/>
                </a:solidFill>
                <a:effectLst/>
                <a:uFillTx/>
                <a:latin typeface="Sora"/>
                <a:ea typeface="Sora"/>
              </a:rPr>
              <a:t>05 / GROWTH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8488080" y="215280"/>
            <a:ext cx="315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6883A0"/>
                </a:solidFill>
                <a:effectLst/>
                <a:uFillTx/>
                <a:latin typeface="Sora"/>
                <a:ea typeface="Sora"/>
              </a:rPr>
              <a:t>09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8A0B7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8A0B7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457200" y="781200"/>
            <a:ext cx="37249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2E7CF6"/>
                </a:solidFill>
                <a:effectLst/>
                <a:uFillTx/>
                <a:latin typeface="Sora"/>
                <a:ea typeface="Sora"/>
              </a:rPr>
              <a:t>WHAT THE JOURNEY DEVELOPED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457200" y="1011960"/>
            <a:ext cx="6901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Skills &amp; Learning Outcomes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456840" y="1748880"/>
            <a:ext cx="2652480" cy="1328400"/>
          </a:xfrm>
          <a:prstGeom prst="roundRect">
            <a:avLst>
              <a:gd name="adj" fmla="val 6882"/>
            </a:avLst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640080" y="1960200"/>
            <a:ext cx="484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01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640080" y="2413440"/>
            <a:ext cx="1833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Technical skills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640080" y="2692080"/>
            <a:ext cx="2035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90" b="0" u="none" strike="noStrike">
                <a:solidFill>
                  <a:srgbClr val="B8C4CF"/>
                </a:solidFill>
                <a:effectLst/>
                <a:uFillTx/>
                <a:latin typeface="Source Sans 3"/>
                <a:ea typeface="Source Sans 3"/>
              </a:rPr>
              <a:t>Exploratory Data Analysis (EDA) 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3245760" y="1748880"/>
            <a:ext cx="2652480" cy="1328400"/>
          </a:xfrm>
          <a:prstGeom prst="roundRect">
            <a:avLst>
              <a:gd name="adj" fmla="val 688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3429000" y="1960200"/>
            <a:ext cx="5576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B6D1FC"/>
                </a:solidFill>
                <a:effectLst/>
                <a:uFillTx/>
                <a:latin typeface="Sora"/>
                <a:ea typeface="Sora"/>
              </a:rPr>
              <a:t>02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3429000" y="2413440"/>
            <a:ext cx="2027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Problem-solving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3429000" y="2692080"/>
            <a:ext cx="2549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657F97"/>
                </a:solidFill>
                <a:effectLst/>
                <a:uFillTx/>
                <a:latin typeface="Source Sans 3"/>
                <a:ea typeface="Source Sans 3"/>
              </a:rPr>
              <a:t>Debugged pipeline errors 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6"/>
          <p:cNvSpPr/>
          <p:nvPr/>
        </p:nvSpPr>
        <p:spPr>
          <a:xfrm>
            <a:off x="6034320" y="1748880"/>
            <a:ext cx="2652480" cy="1328400"/>
          </a:xfrm>
          <a:prstGeom prst="roundRect">
            <a:avLst>
              <a:gd name="adj" fmla="val 688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6217920" y="1960200"/>
            <a:ext cx="55872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B6D1FC"/>
                </a:solidFill>
                <a:effectLst/>
                <a:uFillTx/>
                <a:latin typeface="Sora"/>
                <a:ea typeface="Sora"/>
              </a:rPr>
              <a:t>03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6217920" y="2413440"/>
            <a:ext cx="19497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Communication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6217920" y="2692080"/>
            <a:ext cx="2895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90" b="0" u="none" strike="noStrike">
                <a:solidFill>
                  <a:srgbClr val="657F97"/>
                </a:solidFill>
                <a:effectLst/>
                <a:uFillTx/>
                <a:latin typeface="Source Sans 3"/>
                <a:ea typeface="Source Sans 3"/>
              </a:rPr>
              <a:t>Translated complex data 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456840" y="3214440"/>
            <a:ext cx="2652480" cy="151884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640080" y="3426480"/>
            <a:ext cx="57420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B6D1FC"/>
                </a:solidFill>
                <a:effectLst/>
                <a:uFillTx/>
                <a:latin typeface="Sora"/>
                <a:ea typeface="Sora"/>
              </a:rPr>
              <a:t>04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640080" y="3879720"/>
            <a:ext cx="1275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Teamwork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640080" y="4158360"/>
            <a:ext cx="2436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90" b="0" u="none" strike="noStrike">
                <a:solidFill>
                  <a:srgbClr val="657F97"/>
                </a:solidFill>
                <a:effectLst/>
                <a:uFillTx/>
                <a:latin typeface="Source Sans 3"/>
                <a:ea typeface="Source Sans 3"/>
              </a:rPr>
              <a:t>Collaborated via Git/GitHub 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4"/>
          <p:cNvSpPr/>
          <p:nvPr/>
        </p:nvSpPr>
        <p:spPr>
          <a:xfrm>
            <a:off x="3245760" y="3214440"/>
            <a:ext cx="2652480" cy="1518840"/>
          </a:xfrm>
          <a:prstGeom prst="roundRect">
            <a:avLst>
              <a:gd name="adj" fmla="val 60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3429000" y="3426480"/>
            <a:ext cx="5630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B6D1FC"/>
                </a:solidFill>
                <a:effectLst/>
                <a:uFillTx/>
                <a:latin typeface="Sora"/>
                <a:ea typeface="Sora"/>
              </a:rPr>
              <a:t>05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3429000" y="3879720"/>
            <a:ext cx="2328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Industry awareness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3429000" y="4158360"/>
            <a:ext cx="2115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657F97"/>
                </a:solidFill>
                <a:effectLst/>
                <a:uFillTx/>
                <a:latin typeface="Source Sans 3"/>
                <a:ea typeface="Source Sans 3"/>
              </a:rPr>
              <a:t>Understood real-world AI/ML deployment 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6034320" y="3214440"/>
            <a:ext cx="2652480" cy="1518840"/>
          </a:xfrm>
          <a:prstGeom prst="roundRect">
            <a:avLst>
              <a:gd name="adj" fmla="val 6019"/>
            </a:avLst>
          </a:prstGeom>
          <a:solidFill>
            <a:srgbClr val="FFF8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9"/>
          <p:cNvSpPr/>
          <p:nvPr/>
        </p:nvSpPr>
        <p:spPr>
          <a:xfrm>
            <a:off x="6217920" y="3426480"/>
            <a:ext cx="579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F0CA9B"/>
                </a:solidFill>
                <a:effectLst/>
                <a:uFillTx/>
                <a:latin typeface="Sora"/>
                <a:ea typeface="Sora"/>
              </a:rPr>
              <a:t>06</a:t>
            </a:r>
            <a:endParaRPr lang="en-IN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6217920" y="3879720"/>
            <a:ext cx="2215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370" b="1" u="none" strike="noStrike">
                <a:solidFill>
                  <a:srgbClr val="123B60"/>
                </a:solidFill>
                <a:effectLst/>
                <a:uFillTx/>
                <a:latin typeface="Sora"/>
                <a:ea typeface="Sora"/>
              </a:rPr>
              <a:t>Time management</a:t>
            </a:r>
            <a:endParaRPr lang="en-IN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6217920" y="4158360"/>
            <a:ext cx="2310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2"/>
          <p:cNvSpPr/>
          <p:nvPr/>
        </p:nvSpPr>
        <p:spPr>
          <a:xfrm>
            <a:off x="6300000" y="4158360"/>
            <a:ext cx="762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657D90"/>
                </a:solidFill>
                <a:effectLst/>
                <a:uFillTx/>
                <a:latin typeface="Source Sans 3"/>
                <a:ea typeface="Source Sans 3"/>
              </a:rPr>
              <a:t>Prioritized module milestones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23B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"/>
          <p:cNvSpPr/>
          <p:nvPr/>
        </p:nvSpPr>
        <p:spPr>
          <a:xfrm>
            <a:off x="-1097280" y="1131480"/>
            <a:ext cx="3657240" cy="3657240"/>
          </a:xfrm>
          <a:prstGeom prst="ellipse">
            <a:avLst/>
          </a:prstGeom>
          <a:noFill/>
          <a:ln w="109538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8138520" y="926280"/>
            <a:ext cx="547200" cy="90000"/>
          </a:xfrm>
          <a:prstGeom prst="rect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658440" y="215280"/>
            <a:ext cx="1457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8C4CF"/>
                </a:solidFill>
                <a:effectLst/>
                <a:uFillTx/>
                <a:latin typeface="Sora"/>
                <a:ea typeface="Sora"/>
              </a:rPr>
              <a:t>07 / OUTCOME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8553240" y="215280"/>
            <a:ext cx="230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8C4CF"/>
                </a:solidFill>
                <a:effectLst/>
                <a:uFillTx/>
                <a:latin typeface="Sora"/>
                <a:ea typeface="Sora"/>
              </a:rPr>
              <a:t>11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99DB0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99DB0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457200" y="781200"/>
            <a:ext cx="36028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THE VALUE OF THE EXPERIENCE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457200" y="1011960"/>
            <a:ext cx="6253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Overall Experience &amp; Key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457200" y="1443960"/>
            <a:ext cx="2822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240" b="1" u="none" spc="-162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Takeaways</a:t>
            </a:r>
            <a:endParaRPr lang="en-IN" sz="3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457200" y="2232000"/>
            <a:ext cx="38858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457200" y="2343960"/>
            <a:ext cx="15922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01 / LEARNING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457200" y="2540160"/>
            <a:ext cx="1668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Core fundamentals of the end-to-end Data Science lifecycle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4800600" y="2232000"/>
            <a:ext cx="38858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4800600" y="2343960"/>
            <a:ext cx="27237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02 / TECHNICAL GROWTH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4800600" y="2540160"/>
            <a:ext cx="3844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Transitioned from theoretical knowledge to building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457200" y="2947320"/>
            <a:ext cx="38858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457200" y="3059280"/>
            <a:ext cx="28695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03 / PRACTICAL EXPOSURE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457200" y="3255480"/>
            <a:ext cx="2809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Hands-on experience working with real-world datasets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0"/>
          <p:cNvSpPr/>
          <p:nvPr/>
        </p:nvSpPr>
        <p:spPr>
          <a:xfrm>
            <a:off x="4800600" y="2947320"/>
            <a:ext cx="38858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1"/>
          <p:cNvSpPr/>
          <p:nvPr/>
        </p:nvSpPr>
        <p:spPr>
          <a:xfrm>
            <a:off x="4800600" y="3059280"/>
            <a:ext cx="25887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67" strike="noStrike">
                <a:solidFill>
                  <a:srgbClr val="E3A45A"/>
                </a:solidFill>
                <a:effectLst/>
                <a:uFillTx/>
                <a:latin typeface="Sora"/>
                <a:ea typeface="Sora"/>
              </a:rPr>
              <a:t>04 / CAREER DIRECTION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4800600" y="3255480"/>
            <a:ext cx="3043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D4DCE2"/>
                </a:solidFill>
                <a:effectLst/>
                <a:uFillTx/>
                <a:latin typeface="Source Sans 3"/>
                <a:ea typeface="Source Sans 3"/>
              </a:rPr>
              <a:t>Solidified foundational expertise for AI/ML engineering roles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668520" y="3761280"/>
            <a:ext cx="74365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2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Most valuable experience: </a:t>
            </a: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Translating raw, unstructured data into a fully optimized predictive model.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2232000"/>
            <a:ext cx="3885840" cy="5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0600" y="2232000"/>
            <a:ext cx="3885840" cy="5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7200" y="2947320"/>
            <a:ext cx="3885840" cy="5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800600" y="2947320"/>
            <a:ext cx="3885840" cy="5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57200" y="3765960"/>
            <a:ext cx="685764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81C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Shape 1"/>
          <p:cNvSpPr/>
          <p:nvPr/>
        </p:nvSpPr>
        <p:spPr>
          <a:xfrm>
            <a:off x="5487480" y="669600"/>
            <a:ext cx="2923920" cy="2923920"/>
          </a:xfrm>
          <a:prstGeom prst="ellipse">
            <a:avLst/>
          </a:prstGeom>
          <a:noFill/>
          <a:ln w="4763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6125400" y="1079280"/>
            <a:ext cx="1647360" cy="1647360"/>
          </a:xfrm>
          <a:prstGeom prst="ellipse">
            <a:avLst/>
          </a:prstGeom>
          <a:noFill/>
          <a:ln w="61913">
            <a:solidFill>
              <a:srgbClr val="E3A45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"/>
          <p:cNvSpPr/>
          <p:nvPr/>
        </p:nvSpPr>
        <p:spPr>
          <a:xfrm>
            <a:off x="457200" y="233280"/>
            <a:ext cx="109080" cy="109080"/>
          </a:xfrm>
          <a:prstGeom prst="roundRect">
            <a:avLst>
              <a:gd name="adj" fmla="val 25044"/>
            </a:avLst>
          </a:prstGeom>
          <a:solidFill>
            <a:srgbClr val="2E7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658440" y="215280"/>
            <a:ext cx="1386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5BBC1"/>
                </a:solidFill>
                <a:effectLst/>
                <a:uFillTx/>
                <a:latin typeface="Sora"/>
                <a:ea typeface="Sora"/>
              </a:rPr>
              <a:t>08 / CLOSING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8530920" y="215280"/>
            <a:ext cx="2592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56" strike="noStrike">
                <a:solidFill>
                  <a:srgbClr val="B5BBC1"/>
                </a:solidFill>
                <a:effectLst/>
                <a:uFillTx/>
                <a:latin typeface="Sora"/>
                <a:ea typeface="Sora"/>
              </a:rPr>
              <a:t>12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457200" y="4752720"/>
            <a:ext cx="1202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AICTE × EduSkills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7321320" y="4752720"/>
            <a:ext cx="1831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848E98"/>
                </a:solidFill>
                <a:effectLst/>
                <a:uFillTx/>
                <a:latin typeface="Source Sans 3"/>
                <a:ea typeface="Source Sans 3"/>
              </a:rPr>
              <a:t>Virtual Internship Portfolio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457200" y="800280"/>
            <a:ext cx="40255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13" strike="noStrike">
                <a:solidFill>
                  <a:srgbClr val="8BB8FF"/>
                </a:solidFill>
                <a:effectLst/>
                <a:uFillTx/>
                <a:latin typeface="Sora"/>
                <a:ea typeface="Sora"/>
              </a:rPr>
              <a:t>A COMPLETED LEARNING JOURNEY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457200" y="1017000"/>
            <a:ext cx="68799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740" b="1" u="none" spc="-224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From guided learning to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0"/>
          <p:cNvSpPr/>
          <p:nvPr/>
        </p:nvSpPr>
        <p:spPr>
          <a:xfrm>
            <a:off x="457200" y="1501920"/>
            <a:ext cx="60969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740" b="1" u="none" spc="-224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practical confidence.</a:t>
            </a:r>
            <a:endParaRPr lang="en-IN" sz="3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1"/>
          <p:cNvSpPr/>
          <p:nvPr/>
        </p:nvSpPr>
        <p:spPr>
          <a:xfrm>
            <a:off x="456840" y="2253600"/>
            <a:ext cx="823680" cy="37800"/>
          </a:xfrm>
          <a:prstGeom prst="rect">
            <a:avLst/>
          </a:prstGeom>
          <a:solidFill>
            <a:srgbClr val="E3A4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457200" y="2435400"/>
            <a:ext cx="6174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ABFC5"/>
                </a:solidFill>
                <a:effectLst/>
                <a:uFillTx/>
                <a:latin typeface="Source Sans 3"/>
                <a:ea typeface="Source Sans 3"/>
              </a:rPr>
              <a:t>Thank you to AICTE, EduSkills, mentors, and my institution for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ABFC5"/>
                </a:solidFill>
                <a:effectLst/>
                <a:uFillTx/>
                <a:latin typeface="Source Sans 3"/>
                <a:ea typeface="Source Sans 3"/>
              </a:rPr>
              <a:t>supporting this internship experience.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457200" y="3319560"/>
            <a:ext cx="316332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3959" b="1" u="none" spc="-238" strike="noStrike">
                <a:solidFill>
                  <a:srgbClr val="FFFFFF"/>
                </a:solidFill>
                <a:effectLst/>
                <a:uFillTx/>
                <a:latin typeface="Sora"/>
                <a:ea typeface="Sora"/>
              </a:rPr>
              <a:t>Thank You</a:t>
            </a:r>
            <a:endParaRPr lang="en-IN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457200" y="4124160"/>
            <a:ext cx="2811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1220" b="0" u="none" strike="noStrike">
                <a:solidFill>
                  <a:srgbClr val="9099A2"/>
                </a:solidFill>
                <a:effectLst/>
                <a:uFillTx/>
                <a:latin typeface="Source Sans 3"/>
                <a:ea typeface="Source Sans 3"/>
              </a:rPr>
              <a:t>Krishna Singh · IILM University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LibreOffice/26.2.5.2$Windows_X86_64 LibreOffice_project/cd7284b4cbbfeb507e630c1aac019f4157393acb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2026-08-23T15:05:28Z</dcterms:created>
  <dc:creator>PptxGenJS</dc:creator>
  <dc:description/>
  <dc:language>en-IN</dc:language>
  <cp:lastModifiedBy/>
  <dcterms:modified xsi:type="dcterms:W3CDTF">2026-08-26T09:36:10Z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